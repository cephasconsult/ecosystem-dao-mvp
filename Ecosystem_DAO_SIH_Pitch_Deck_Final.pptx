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Play"/>
      <p:regular r:id="rId25"/>
      <p:bold r:id="rId26"/>
    </p:embeddedFon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rN1/dMPJy89XpIV2jRyr4kai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7ADF06-5147-4780-BFA7-53A4D7389C23}">
  <a:tblStyle styleId="{D57ADF06-5147-4780-BFA7-53A4D7389C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font" Target="fonts/Play-regular.fntdata"/><Relationship Id="rId26" Type="http://schemas.openxmlformats.org/officeDocument/2006/relationships/font" Target="fonts/Play-bold.fntdata"/><Relationship Id="rId27" Type="http://schemas.openxmlformats.org/officeDocument/2006/relationships/font" Target="fonts/QuattrocentoSans-regular.fntdata"/><Relationship Id="rId28" Type="http://schemas.openxmlformats.org/officeDocument/2006/relationships/font" Target="fonts/QuattrocentoSans-bold.fntdata"/><Relationship Id="rId29" Type="http://schemas.openxmlformats.org/officeDocument/2006/relationships/font" Target="fonts/QuattrocentoSans-italic.fntdata"/><Relationship Id="rId30" Type="http://schemas.openxmlformats.org/officeDocument/2006/relationships/font" Target="fonts/QuattrocentoSans-boldItalic.fntdata"/><Relationship Id="rId3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CcsLogo" Type="http://schemas.openxmlformats.org/officeDocument/2006/relationships/image" Target="../media/ccs_log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ephasconsult.github.io/ecosystem-dao-mvp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TI Logo - Blue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8732" y="261782"/>
            <a:ext cx="1208287" cy="57047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509163" y="2757090"/>
            <a:ext cx="840115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4D9"/>
              </a:buClr>
              <a:buSzPts val="7200"/>
              <a:buFont typeface="Play"/>
              <a:buNone/>
            </a:pPr>
            <a:r>
              <a:rPr b="1" i="0" lang="en-IN" sz="5400" u="none" cap="none" strike="noStrike">
                <a:solidFill>
                  <a:srgbClr val="3FA4D9"/>
                </a:solidFill>
                <a:latin typeface="Play"/>
                <a:ea typeface="Play"/>
                <a:cs typeface="Play"/>
                <a:sym typeface="Play"/>
              </a:rPr>
              <a:t>Ecosystem DAO</a:t>
            </a:r>
            <a:endParaRPr b="0" i="0" sz="5400" u="none" cap="none" strike="noStrike">
              <a:solidFill>
                <a:srgbClr val="3FA4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9163" y="3978990"/>
            <a:ext cx="64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900" u="none" cap="none" strike="noStrike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One shared rulebook for social enterprises, non-profits and for-profit organizations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42486" y="1361155"/>
            <a:ext cx="4454694" cy="4878718"/>
          </a:xfrm>
          <a:prstGeom prst="roundRect">
            <a:avLst>
              <a:gd fmla="val 16667" name="adj"/>
            </a:avLst>
          </a:prstGeom>
          <a:solidFill>
            <a:srgbClr val="F3F8FC"/>
          </a:solidFill>
          <a:ln cap="flat" cmpd="sng" w="12700">
            <a:solidFill>
              <a:srgbClr val="38A0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09165" y="3770034"/>
            <a:ext cx="5586835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509163" y="2200033"/>
            <a:ext cx="4736592" cy="400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rPr lang="en-IN" sz="19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Open Social Innovation</a:t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9163" y="4935709"/>
            <a:ext cx="6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- By Pradeep Shampur, Cephas Consultancy Services Private Limited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Circle 2001"/>
          <p:cNvSpPr/>
          <p:nvPr/>
        </p:nvSpPr>
        <p:spPr>
          <a:xfrm>
            <a:off x="7592486" y="1711155"/>
            <a:ext cx="2200000" cy="2200000"/>
          </a:xfrm>
          <a:prstGeom prst="ellipse">
            <a:avLst/>
          </a:prstGeom>
          <a:solidFill>
            <a:srgbClr val="F28C28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enterprises</a:t>
            </a:r>
          </a:p>
        </p:txBody>
      </p:sp>
      <p:sp>
        <p:nvSpPr>
          <p:cNvPr id="2002" name="Circle 2002"/>
          <p:cNvSpPr/>
          <p:nvPr/>
        </p:nvSpPr>
        <p:spPr>
          <a:xfrm>
            <a:off x="9342486" y="1711155"/>
            <a:ext cx="2200000" cy="2200000"/>
          </a:xfrm>
          <a:prstGeom prst="ellipse">
            <a:avLst/>
          </a:prstGeom>
          <a:solidFill>
            <a:srgbClr val="38A0D8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Non-profits</a:t>
            </a:r>
          </a:p>
        </p:txBody>
      </p:sp>
      <p:sp>
        <p:nvSpPr>
          <p:cNvPr id="2003" name="Circle 2003"/>
          <p:cNvSpPr/>
          <p:nvPr/>
        </p:nvSpPr>
        <p:spPr>
          <a:xfrm>
            <a:off x="8467486" y="3011155"/>
            <a:ext cx="2200000" cy="2200000"/>
          </a:xfrm>
          <a:prstGeom prst="ellipse">
            <a:avLst/>
          </a:prstGeom>
          <a:solidFill>
            <a:srgbClr val="203050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For-profits</a:t>
            </a:r>
          </a:p>
        </p:txBody>
      </p:sp>
      <p:sp>
        <p:nvSpPr>
          <p:cNvPr id="2004" name="Caption 2004"/>
          <p:cNvSpPr txBox="1"/>
          <p:nvPr/>
        </p:nvSpPr>
        <p:spPr>
          <a:xfrm>
            <a:off x="7542486" y="5511155"/>
            <a:ext cx="4054694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1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One DAO, three kinds of members</a:t>
            </a:r>
          </a:p>
        </p:txBody>
      </p:sp>
      <p:pic>
        <p:nvPicPr>
          <p:cNvPr id="2005" name="CCS logo" descr="CCS logo"/>
          <p:cNvPicPr>
            <a:picLocks noChangeAspect="1"/>
          </p:cNvPicPr>
          <p:nvPr/>
        </p:nvPicPr>
        <p:blipFill>
          <a:blip r:embed="rIdCcsLogo"/>
          <a:stretch>
            <a:fillRect/>
          </a:stretch>
        </p:blipFill>
        <p:spPr>
          <a:xfrm>
            <a:off x="509163" y="261782"/>
            <a:ext cx="1131428" cy="720000"/>
          </a:xfrm>
          <a:prstGeom prst="rect">
            <a:avLst/>
          </a:prstGeom>
        </p:spPr>
      </p:pic>
      <p:sp>
        <p:nvSpPr>
          <p:cNvPr id="2006" name="Google Shape;20;p1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1;p1"/>
          <p:cNvSpPr txBox="1"/>
          <p:nvPr/>
        </p:nvSpPr>
        <p:spPr>
          <a:xfrm>
            <a:off x="658368" y="6586132"/>
            <a:ext cx="53035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" u="none" cap="none" strike="noStrike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SOCIAL IMPACT HACKATHON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Play"/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11109960" y="6547104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08" name="Text 2008"/>
          <p:cNvSpPr txBox="1"/>
          <p:nvPr/>
        </p:nvSpPr>
        <p:spPr>
          <a:xfrm>
            <a:off x="658368" y="1130000"/>
            <a:ext cx="53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problem are we solving?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enterprises, non-profits and for-profit organizations share goals, but coordinate through manual trust, siloed funds and self-reported impact.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Who is affected?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social enterprises and non-profits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Funders and CSR teams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communities they serve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Why is it important?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Money and effort are lost to duplicated due diligence and delay, so less reaches the people the work is meant for.</a:t>
            </a:r>
          </a:p>
        </p:txBody>
      </p:sp>
      <p:sp>
        <p:nvSpPr>
          <p:cNvPr id="2009" name="Text 2009"/>
          <p:cNvSpPr txBox="1"/>
          <p:nvPr/>
        </p:nvSpPr>
        <p:spPr>
          <a:xfrm>
            <a:off x="6240000" y="1130000"/>
            <a:ext cx="53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Current challenges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 re-verify each other for every collaboration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Funds and data sit in separate systems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claims are hard for funders to verify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Why now?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identity, smart contracts and AI now make shared, transparent governance practical for small organizations.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How big?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₹40,794 crore of CSR spending by 29,546 companies in FY2024-25, up 17% year on year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estimated 2 million social enterprises in India (rough estimate)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700" b="0" i="1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Sources: Bharat CSR Performance Report 2026 (Fulcrum); British Council, The state of social enterprise in India (2016)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Play"/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Social Impact &amp; SDG Alignment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Text 2010"/>
          <p:cNvSpPr txBox="1"/>
          <p:nvPr/>
        </p:nvSpPr>
        <p:spPr>
          <a:xfrm>
            <a:off x="658368" y="1130000"/>
            <a:ext cx="1088136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Primary beneficiaries: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social enterprises and non-profits, and the communities they serve.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UN SDG alignment: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 17 Partnerships for the Goals, SDG 8 Decent Work and Economic Growth, SDG 10 Reduced Inequalities.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Expected outcomes: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time lost to duplicated paperwork, faster milestone-based funding, and impact that funders can verify.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Impact metrics: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Tracked on a public dashboard and reported against the targets below.</a:t>
            </a:r>
          </a:p>
        </p:txBody>
      </p:sp>
      <p:graphicFrame>
        <p:nvGraphicFramePr>
          <p:cNvPr id="2011" name="Table 2011"/>
          <p:cNvGraphicFramePr>
            <a:graphicFrameLocks noGrp="1"/>
          </p:cNvGraphicFramePr>
          <p:nvPr/>
        </p:nvGraphicFramePr>
        <p:xfrm>
          <a:off x="658368" y="3600000"/>
          <a:ext cx="10881360" cy="2350000"/>
        </p:xfrm>
        <a:graphic>
          <a:graphicData uri="http://schemas.openxmlformats.org/drawingml/2006/table">
            <a:tbl>
              <a:tblPr firstRow="1"/>
              <a:tblGrid>
                <a:gridCol w="5000000"/>
                <a:gridCol w="2940680"/>
                <a:gridCol w="2940680"/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1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3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 organizations onboarded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Funding routed through the shared treasury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 crore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₹25 crore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impact reports published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Days from approval to release of funds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days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days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Target Beneficiaries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Text 2012"/>
          <p:cNvSpPr txBox="1"/>
          <p:nvPr/>
        </p:nvSpPr>
        <p:spPr>
          <a:xfrm>
            <a:off x="658368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Persona 1: Founder of a small social enterprise (illustrative)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Demographics: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a small team, often outside major cities.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Needs: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funding, credible partners and less paperwork.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Motivations: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 community impact and be taken seriously by funders.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Challenges: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reporting, slow payments, and difficulty proving results.</a:t>
            </a:r>
          </a:p>
        </p:txBody>
      </p:sp>
      <p:sp>
        <p:nvSpPr>
          <p:cNvPr id="2013" name="Text 2013"/>
          <p:cNvSpPr txBox="1"/>
          <p:nvPr/>
        </p:nvSpPr>
        <p:spPr>
          <a:xfrm>
            <a:off x="6240000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Persona 2: CSR manager at a for-profit company (illustrative)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Demographics: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a CSR budget and answers to leadership and regulators.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Needs: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Vetted partners and evidence of outcomes.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Motivations: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 ESG goals and show credible results.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Challenges: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Time-consuming due diligence and uncertain impact.</a:t>
            </a:r>
          </a:p>
        </p:txBody>
      </p:sp>
      <p:sp>
        <p:nvSpPr>
          <p:cNvPr id="2014" name="Text 2014"/>
          <p:cNvSpPr txBox="1"/>
          <p:nvPr/>
        </p:nvSpPr>
        <p:spPr>
          <a:xfrm>
            <a:off x="658368" y="4350000"/>
            <a:ext cx="1088136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User journey: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→ Join and verify → Propose or vote → Funds released on milestones → Impact verified and published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Solution Overview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Text 2015"/>
          <p:cNvSpPr txBox="1"/>
          <p:nvPr/>
        </p:nvSpPr>
        <p:spPr>
          <a:xfrm>
            <a:off x="658368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DAO that gives social enterprises, non-profits and for-profit organizations one shared rulebook for decisions, funding and impact reporting.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Organizations join and verify their identity.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Members propose grants, partnerships and rules.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Members vote under rules written into smart contracts.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Funds are released from the shared treasury as milestones are verified.</a:t>
            </a:r>
          </a:p>
        </p:txBody>
      </p:sp>
      <p:sp>
        <p:nvSpPr>
          <p:cNvPr id="2016" name="Text 2016"/>
          <p:cNvSpPr txBox="1"/>
          <p:nvPr/>
        </p:nvSpPr>
        <p:spPr>
          <a:xfrm>
            <a:off x="6240000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voting power across member types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Transparent multi-signature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Milestone-based funding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impact registry with independent verification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assistant for proposal summaries and grant matching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duplicated due diligence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Faster, fairer funding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Outcomes funders can trust</a:t>
            </a:r>
          </a:p>
        </p:txBody>
      </p:sp>
      <p:sp>
        <p:nvSpPr>
          <p:cNvPr id="2017" name="Text 2017"/>
          <p:cNvSpPr txBox="1"/>
          <p:nvPr/>
        </p:nvSpPr>
        <p:spPr>
          <a:xfrm>
            <a:off x="658368" y="478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</a:p>
        </p:txBody>
      </p:sp>
      <p:sp>
        <p:nvSpPr>
          <p:cNvPr id="2018" name="Flow box 2018"/>
          <p:cNvSpPr/>
          <p:nvPr/>
        </p:nvSpPr>
        <p:spPr>
          <a:xfrm>
            <a:off x="658368" y="5100000"/>
            <a:ext cx="3407120" cy="1100000"/>
          </a:xfrm>
          <a:prstGeom prst="roundRect">
            <a:avLst/>
          </a:prstGeom>
          <a:solidFill>
            <a:srgbClr val="5A647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Fragmented trust, funds and impact data</a:t>
            </a:r>
          </a:p>
        </p:txBody>
      </p:sp>
      <p:sp>
        <p:nvSpPr>
          <p:cNvPr id="2019" name="Arrow 2019"/>
          <p:cNvSpPr txBox="1"/>
          <p:nvPr/>
        </p:nvSpPr>
        <p:spPr>
          <a:xfrm>
            <a:off x="4065488" y="510000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20" name="Flow box 2020"/>
          <p:cNvSpPr/>
          <p:nvPr/>
        </p:nvSpPr>
        <p:spPr>
          <a:xfrm>
            <a:off x="4395488" y="5100000"/>
            <a:ext cx="3407120" cy="11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member-run DAO with shared rules and treasury</a:t>
            </a:r>
          </a:p>
        </p:txBody>
      </p:sp>
      <p:sp>
        <p:nvSpPr>
          <p:cNvPr id="2021" name="Arrow 2021"/>
          <p:cNvSpPr txBox="1"/>
          <p:nvPr/>
        </p:nvSpPr>
        <p:spPr>
          <a:xfrm>
            <a:off x="7802608" y="510000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22" name="Flow box 2022"/>
          <p:cNvSpPr/>
          <p:nvPr/>
        </p:nvSpPr>
        <p:spPr>
          <a:xfrm>
            <a:off x="8132608" y="5100000"/>
            <a:ext cx="3407120" cy="110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Faster, transparent, verifiable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Innovation &amp; Differentiation</a:t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Text 2023"/>
          <p:cNvSpPr txBox="1"/>
          <p:nvPr/>
        </p:nvSpPr>
        <p:spPr>
          <a:xfrm>
            <a:off x="658368" y="1130000"/>
            <a:ext cx="1088136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makes it unique?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DAO designed for social enterprises, non-profits and for-profits together, with balanced voting power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Funding that follows verified milestones, not promises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decisions, assisted by AI that members control</a:t>
            </a:r>
          </a:p>
        </p:txBody>
      </p:sp>
      <p:graphicFrame>
        <p:nvGraphicFramePr>
          <p:cNvPr id="2024" name="Table 2024"/>
          <p:cNvGraphicFramePr>
            <a:graphicFrameLocks noGrp="1"/>
          </p:cNvGraphicFramePr>
          <p:nvPr/>
        </p:nvGraphicFramePr>
        <p:xfrm>
          <a:off x="658368" y="2750000"/>
          <a:ext cx="10881360" cy="3200000"/>
        </p:xfrm>
        <a:graphic>
          <a:graphicData uri="http://schemas.openxmlformats.org/drawingml/2006/table">
            <a:tbl>
              <a:tblPr firstRow="1"/>
              <a:tblGrid>
                <a:gridCol w="3300000"/>
                <a:gridCol w="3790000"/>
                <a:gridCol w="3791360"/>
              </a:tblGrid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alternative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 today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solution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 portals and NGO directories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organizations but do not govern money or verify outcomes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 vote on funding; releases follow verified milestones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Associations and federations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Decisions sit with a small committee, with limited visibility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rules, a transparent treasury and every vote recorded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crypto DAOs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for token holders, a poor fit for NGOs and companies together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for mixed profit and non-profit members, with a legal wrapper and impact checks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Technology Architecture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Text 2025"/>
          <p:cNvSpPr txBox="1"/>
          <p:nvPr/>
        </p:nvSpPr>
        <p:spPr>
          <a:xfrm>
            <a:off x="658368" y="1130000"/>
            <a:ext cx="530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Tech stack (proposed):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Ethereum-compatible smart contracts, a multi-signature treasury wallet, a responsive web app and open APIs.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AI/ML usage: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for proposal summaries, grant matching and anomaly flags. Humans make every decision.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Cloud infrastructure: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cloud hosting with backups and monitoring.</a:t>
            </a:r>
          </a:p>
        </p:txBody>
      </p:sp>
      <p:sp>
        <p:nvSpPr>
          <p:cNvPr id="2026" name="Text 2026"/>
          <p:cNvSpPr txBox="1"/>
          <p:nvPr/>
        </p:nvSpPr>
        <p:spPr>
          <a:xfrm>
            <a:off x="6240000" y="1130000"/>
            <a:ext cx="530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Audited contracts, multi-signature approvals and role-based access.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Privacy: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data stays off-chain; only proofs and attestations go on-chain.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Accessibility: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Mobile-first, multilingual and simple voting screens.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Ethical considerations: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Transparent decision logs, member control over AI, regular bias and risk review.</a:t>
            </a:r>
          </a:p>
        </p:txBody>
      </p:sp>
      <p:sp>
        <p:nvSpPr>
          <p:cNvPr id="2027" name="Text 2027"/>
          <p:cNvSpPr txBox="1"/>
          <p:nvPr/>
        </p:nvSpPr>
        <p:spPr>
          <a:xfrm>
            <a:off x="658368" y="4500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Architecture flow</a:t>
            </a:r>
          </a:p>
        </p:txBody>
      </p:sp>
      <p:sp>
        <p:nvSpPr>
          <p:cNvPr id="2028" name="Flow box 2028"/>
          <p:cNvSpPr/>
          <p:nvPr/>
        </p:nvSpPr>
        <p:spPr>
          <a:xfrm>
            <a:off x="65836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</a:p>
        </p:txBody>
      </p:sp>
      <p:sp>
        <p:nvSpPr>
          <p:cNvPr id="2029" name="Arrow 2029"/>
          <p:cNvSpPr txBox="1"/>
          <p:nvPr/>
        </p:nvSpPr>
        <p:spPr>
          <a:xfrm>
            <a:off x="222192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0" name="Flow box 2030"/>
          <p:cNvSpPr/>
          <p:nvPr/>
        </p:nvSpPr>
        <p:spPr>
          <a:xfrm>
            <a:off x="252192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</a:p>
        </p:txBody>
      </p:sp>
      <p:sp>
        <p:nvSpPr>
          <p:cNvPr id="2031" name="Arrow 2031"/>
          <p:cNvSpPr txBox="1"/>
          <p:nvPr/>
        </p:nvSpPr>
        <p:spPr>
          <a:xfrm>
            <a:off x="408548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2" name="Flow box 2032"/>
          <p:cNvSpPr/>
          <p:nvPr/>
        </p:nvSpPr>
        <p:spPr>
          <a:xfrm>
            <a:off x="438548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</a:p>
        </p:txBody>
      </p:sp>
      <p:sp>
        <p:nvSpPr>
          <p:cNvPr id="2033" name="Arrow 2033"/>
          <p:cNvSpPr txBox="1"/>
          <p:nvPr/>
        </p:nvSpPr>
        <p:spPr>
          <a:xfrm>
            <a:off x="594904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4" name="Flow box 2034"/>
          <p:cNvSpPr/>
          <p:nvPr/>
        </p:nvSpPr>
        <p:spPr>
          <a:xfrm>
            <a:off x="624904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</a:p>
        </p:txBody>
      </p:sp>
      <p:sp>
        <p:nvSpPr>
          <p:cNvPr id="2035" name="Arrow 2035"/>
          <p:cNvSpPr txBox="1"/>
          <p:nvPr/>
        </p:nvSpPr>
        <p:spPr>
          <a:xfrm>
            <a:off x="781260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6" name="Flow box 2036"/>
          <p:cNvSpPr/>
          <p:nvPr/>
        </p:nvSpPr>
        <p:spPr>
          <a:xfrm>
            <a:off x="811260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</a:p>
        </p:txBody>
      </p:sp>
      <p:sp>
        <p:nvSpPr>
          <p:cNvPr id="2037" name="Arrow 2037"/>
          <p:cNvSpPr txBox="1"/>
          <p:nvPr/>
        </p:nvSpPr>
        <p:spPr>
          <a:xfrm>
            <a:off x="967616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8" name="Flow box 2038"/>
          <p:cNvSpPr/>
          <p:nvPr/>
        </p:nvSpPr>
        <p:spPr>
          <a:xfrm>
            <a:off x="997616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MVP / Prototype Screens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Text 2039"/>
          <p:cNvSpPr txBox="1"/>
          <p:nvPr/>
        </p:nvSpPr>
        <p:spPr>
          <a:xfrm>
            <a:off x="658368" y="1130000"/>
            <a:ext cx="1088136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User flow: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→ Main dashboard → Proposals and voting → Treasury view → Impact reporting</a:t>
            </a:r>
          </a:p>
        </p:txBody>
      </p:sp>
      <p:sp>
        <p:nvSpPr>
          <p:cNvPr id="2040" name="Screen 2040"/>
          <p:cNvSpPr/>
          <p:nvPr/>
        </p:nvSpPr>
        <p:spPr>
          <a:xfrm>
            <a:off x="65836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</a:p>
        </p:txBody>
      </p:sp>
      <p:sp>
        <p:nvSpPr>
          <p:cNvPr id="2041" name="Screen 2041"/>
          <p:cNvSpPr/>
          <p:nvPr/>
        </p:nvSpPr>
        <p:spPr>
          <a:xfrm>
            <a:off x="344120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Main dashboard</a:t>
            </a:r>
          </a:p>
        </p:txBody>
      </p:sp>
      <p:sp>
        <p:nvSpPr>
          <p:cNvPr id="2042" name="Screen 2042"/>
          <p:cNvSpPr/>
          <p:nvPr/>
        </p:nvSpPr>
        <p:spPr>
          <a:xfrm>
            <a:off x="622404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Proposals and voting</a:t>
            </a:r>
          </a:p>
        </p:txBody>
      </p:sp>
      <p:sp>
        <p:nvSpPr>
          <p:cNvPr id="2043" name="Screen 2043"/>
          <p:cNvSpPr/>
          <p:nvPr/>
        </p:nvSpPr>
        <p:spPr>
          <a:xfrm>
            <a:off x="900688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Treasury and impact reporting</a:t>
            </a:r>
          </a:p>
        </p:txBody>
      </p:sp>
      <p:sp>
        <p:nvSpPr>
          <p:cNvPr id="2044" name="Text 2044"/>
          <p:cNvSpPr txBox="1"/>
          <p:nvPr/>
        </p:nvSpPr>
        <p:spPr>
          <a:xfrm>
            <a:off x="658368" y="5450000"/>
            <a:ext cx="10881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 explanation: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prototype is a working web app: join as a member type, vote with equal weight per member type, verify milestones, and release funds on 2-of-3 signatures. The 5-minute demo video walks through this full flow with narration.</a:t>
            </a:r>
          </a:p>
        </p:txBody>
      </p:sp>
      <p:pic>
        <p:nvPicPr>
          <p:cNvPr id="2045" name="Picture 2044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5" y="2577240"/>
            <a:ext cx="1290386" cy="2514600"/>
          </a:xfrm>
          <a:prstGeom prst="rect">
            <a:avLst/>
          </a:prstGeom>
        </p:spPr>
      </p:pic>
      <p:pic>
        <p:nvPicPr>
          <p:cNvPr id="2046" name="Picture 2045" descr="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35" y="2577240"/>
            <a:ext cx="1290386" cy="2514600"/>
          </a:xfrm>
          <a:prstGeom prst="rect">
            <a:avLst/>
          </a:prstGeom>
        </p:spPr>
      </p:pic>
      <p:pic>
        <p:nvPicPr>
          <p:cNvPr id="2047" name="Picture 2046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275" y="2577240"/>
            <a:ext cx="1290386" cy="2514600"/>
          </a:xfrm>
          <a:prstGeom prst="rect">
            <a:avLst/>
          </a:prstGeom>
        </p:spPr>
      </p:pic>
      <p:pic>
        <p:nvPicPr>
          <p:cNvPr id="2048" name="Picture 2047" descr="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115" y="2577240"/>
            <a:ext cx="1290386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Market Validation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045" name="Text 2045"/>
          <p:cNvSpPr txBox="1"/>
          <p:nvPr/>
        </p:nvSpPr>
        <p:spPr>
          <a:xfrm>
            <a:off x="658368" y="1130000"/>
            <a:ext cx="10881360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Validation plan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Surveys of social enterprises, non-profits and CSR teams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discovery with prospective founding members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feedback after the first funding round</a:t>
            </a:r>
          </a:p>
        </p:txBody>
      </p:sp>
      <p:graphicFrame>
        <p:nvGraphicFramePr>
          <p:cNvPr id="2046" name="Table 2046"/>
          <p:cNvGraphicFramePr>
            <a:graphicFrameLocks noGrp="1"/>
          </p:cNvGraphicFramePr>
          <p:nvPr/>
        </p:nvGraphicFramePr>
        <p:xfrm>
          <a:off x="658368" y="3300000"/>
          <a:ext cx="10881360" cy="2450000"/>
        </p:xfrm>
        <a:graphic>
          <a:graphicData uri="http://schemas.openxmlformats.org/drawingml/2006/table">
            <a:tbl>
              <a:tblPr firstRow="1"/>
              <a:tblGrid>
                <a:gridCol w="5440680"/>
                <a:gridCol w="5440680"/>
              </a:tblGrid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 activity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for the pilot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 responses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100+ responses from social enterprises, non-profits and CSR teams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users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founding member organizations across all three member types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Waitlist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organizations on the waitlist before pilot launch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Scalability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047" name="Text 2047"/>
          <p:cNvSpPr txBox="1"/>
          <p:nvPr/>
        </p:nvSpPr>
        <p:spPr>
          <a:xfrm>
            <a:off x="658368" y="1130000"/>
            <a:ext cx="5300000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Geographic expansion: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one city cluster, then add state and national chapters as sub-DAOs.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Digital scalability: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smart contracts and web app serve every chapter and sector.</a:t>
            </a:r>
          </a:p>
        </p:txBody>
      </p:sp>
      <p:sp>
        <p:nvSpPr>
          <p:cNvPr id="2048" name="Text 2048"/>
          <p:cNvSpPr txBox="1"/>
          <p:nvPr/>
        </p:nvSpPr>
        <p:spPr>
          <a:xfrm>
            <a:off x="6240000" y="1130000"/>
            <a:ext cx="5300000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Partnerships: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Incubators, universities, CSR networks and industry bodies bring members and funders.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Automation opportunities: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fund releases, onboarding checks and AI-assisted summaries reduce manual work.</a:t>
            </a:r>
          </a:p>
        </p:txBody>
      </p:sp>
      <p:sp>
        <p:nvSpPr>
          <p:cNvPr id="2049" name="Text 2049"/>
          <p:cNvSpPr txBox="1"/>
          <p:nvPr/>
        </p:nvSpPr>
        <p:spPr>
          <a:xfrm>
            <a:off x="658368" y="3600000"/>
            <a:ext cx="4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</a:p>
        </p:txBody>
      </p:sp>
      <p:sp>
        <p:nvSpPr>
          <p:cNvPr id="2050" name="Flow box 2050"/>
          <p:cNvSpPr/>
          <p:nvPr/>
        </p:nvSpPr>
        <p:spPr>
          <a:xfrm>
            <a:off x="658368" y="4100000"/>
            <a:ext cx="2472840" cy="120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 pilot</a:t>
            </a:r>
          </a:p>
        </p:txBody>
      </p:sp>
      <p:sp>
        <p:nvSpPr>
          <p:cNvPr id="2051" name="Arrow 2051"/>
          <p:cNvSpPr txBox="1"/>
          <p:nvPr/>
        </p:nvSpPr>
        <p:spPr>
          <a:xfrm>
            <a:off x="313120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2" name="Flow box 2052"/>
          <p:cNvSpPr/>
          <p:nvPr/>
        </p:nvSpPr>
        <p:spPr>
          <a:xfrm>
            <a:off x="3461208" y="4100000"/>
            <a:ext cx="2472840" cy="1200000"/>
          </a:xfrm>
          <a:prstGeom prst="roundRect">
            <a:avLst/>
          </a:prstGeom>
          <a:solidFill>
            <a:srgbClr val="2C6E9B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chapters</a:t>
            </a:r>
          </a:p>
        </p:txBody>
      </p:sp>
      <p:sp>
        <p:nvSpPr>
          <p:cNvPr id="2053" name="Arrow 2053"/>
          <p:cNvSpPr txBox="1"/>
          <p:nvPr/>
        </p:nvSpPr>
        <p:spPr>
          <a:xfrm>
            <a:off x="593404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4" name="Flow box 2054"/>
          <p:cNvSpPr/>
          <p:nvPr/>
        </p:nvSpPr>
        <p:spPr>
          <a:xfrm>
            <a:off x="6264048" y="4100000"/>
            <a:ext cx="2472840" cy="12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 network</a:t>
            </a:r>
          </a:p>
        </p:txBody>
      </p:sp>
      <p:sp>
        <p:nvSpPr>
          <p:cNvPr id="2055" name="Arrow 2055"/>
          <p:cNvSpPr txBox="1"/>
          <p:nvPr/>
        </p:nvSpPr>
        <p:spPr>
          <a:xfrm>
            <a:off x="873688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6" name="Flow box 2056"/>
          <p:cNvSpPr/>
          <p:nvPr/>
        </p:nvSpPr>
        <p:spPr>
          <a:xfrm>
            <a:off x="9066888" y="4100000"/>
            <a:ext cx="2472840" cy="1200000"/>
          </a:xfrm>
          <a:prstGeom prst="roundRect">
            <a:avLst/>
          </a:prstGeom>
          <a:solidFill>
            <a:srgbClr val="10203A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federation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Business &amp; Sustainability Model</a:t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2057" name="Table 2057"/>
          <p:cNvGraphicFramePr>
            <a:graphicFrameLocks noGrp="1"/>
          </p:cNvGraphicFramePr>
          <p:nvPr/>
        </p:nvGraphicFramePr>
        <p:xfrm>
          <a:off x="658368" y="1130000"/>
          <a:ext cx="10881360" cy="2480000"/>
        </p:xfrm>
        <a:graphic>
          <a:graphicData uri="http://schemas.openxmlformats.org/drawingml/2006/table">
            <a:tbl>
              <a:tblPr firstRow="1"/>
              <a:tblGrid>
                <a:gridCol w="5440680"/>
                <a:gridCol w="5440680"/>
              </a:tblGrid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Tiered membership contributions from organizations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development, security audits and upgrades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Opt-in share of for-profit surplus and CSR programme fees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Legal, compliance and accounting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Fees for shared services and impact verification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Community operations and member support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58" name="Text 2058"/>
          <p:cNvSpPr txBox="1"/>
          <p:nvPr/>
        </p:nvSpPr>
        <p:spPr>
          <a:xfrm>
            <a:off x="658368" y="3950000"/>
            <a:ext cx="1088136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Sustainability plan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reserve share of every inflow stays in the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Fees are reinvested in shared services under member vote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Grants fund the pilot only, not ongoing running costs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Risks &amp; Mitigation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059" name="Text 2059"/>
          <p:cNvSpPr txBox="1"/>
          <p:nvPr/>
        </p:nvSpPr>
        <p:spPr>
          <a:xfrm>
            <a:off x="658368" y="1130000"/>
            <a:ext cx="1088136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 review risks every quarter, and safeguards can be changed by vote.</a:t>
            </a:r>
          </a:p>
        </p:txBody>
      </p:sp>
      <p:graphicFrame>
        <p:nvGraphicFramePr>
          <p:cNvPr id="2060" name="Table 2060"/>
          <p:cNvGraphicFramePr>
            <a:graphicFrameLocks noGrp="1"/>
          </p:cNvGraphicFramePr>
          <p:nvPr/>
        </p:nvGraphicFramePr>
        <p:xfrm>
          <a:off x="658368" y="1750000"/>
          <a:ext cx="10881360" cy="4250000"/>
        </p:xfrm>
        <a:graphic>
          <a:graphicData uri="http://schemas.openxmlformats.org/drawingml/2006/table">
            <a:tbl>
              <a:tblPr firstRow="1"/>
              <a:tblGrid>
                <a:gridCol w="2200000"/>
                <a:gridCol w="3700000"/>
                <a:gridCol w="4981360"/>
              </a:tblGrid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onboarding and uneven participation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Delegated voting, simple tools and onboarding help for small members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Adoption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Organizations hesitate to trust a new model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with a founding cohort, publish results openly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 flaws or lost keys could put funds at risk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audits, multi-signature treasury, staged rollout and spending limits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Unclear legal status of DAOs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wrapper such as a Section 8 company, trust or LLP, with counsel review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Implementation Roadmap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061" name="Timeline 2061"/>
          <p:cNvSpPr/>
          <p:nvPr/>
        </p:nvSpPr>
        <p:spPr>
          <a:xfrm>
            <a:off x="858368" y="1750000"/>
            <a:ext cx="10481360" cy="38100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2" name="Milestone 2062"/>
          <p:cNvSpPr/>
          <p:nvPr/>
        </p:nvSpPr>
        <p:spPr>
          <a:xfrm>
            <a:off x="2058368" y="1519550"/>
            <a:ext cx="500000" cy="5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3" name="Phase 2063"/>
          <p:cNvSpPr/>
          <p:nvPr/>
        </p:nvSpPr>
        <p:spPr>
          <a:xfrm>
            <a:off x="65836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 completion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program with a founding cohort</a:t>
            </a:r>
          </a:p>
        </p:txBody>
      </p:sp>
      <p:sp>
        <p:nvSpPr>
          <p:cNvPr id="2064" name="Milestone 2064"/>
          <p:cNvSpPr/>
          <p:nvPr/>
        </p:nvSpPr>
        <p:spPr>
          <a:xfrm>
            <a:off x="5849048" y="1519550"/>
            <a:ext cx="500000" cy="500000"/>
          </a:xfrm>
          <a:prstGeom prst="ellipse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5" name="Phase 2065"/>
          <p:cNvSpPr/>
          <p:nvPr/>
        </p:nvSpPr>
        <p:spPr>
          <a:xfrm>
            <a:off x="444904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180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acquisition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onboarding with incubators, CSR teams and funders</a:t>
            </a:r>
          </a:p>
        </p:txBody>
      </p:sp>
      <p:sp>
        <p:nvSpPr>
          <p:cNvPr id="2066" name="Milestone 2066"/>
          <p:cNvSpPr/>
          <p:nvPr/>
        </p:nvSpPr>
        <p:spPr>
          <a:xfrm>
            <a:off x="9639728" y="1519550"/>
            <a:ext cx="500000" cy="500000"/>
          </a:xfrm>
          <a:prstGeom prst="ellipse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7" name="Phase 2067"/>
          <p:cNvSpPr/>
          <p:nvPr/>
        </p:nvSpPr>
        <p:spPr>
          <a:xfrm>
            <a:off x="823972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365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to new sectors and regions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generation from membership and shared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Team Structure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068" name="Text 2068"/>
          <p:cNvSpPr txBox="1"/>
          <p:nvPr/>
        </p:nvSpPr>
        <p:spPr>
          <a:xfrm>
            <a:off x="658368" y="1130000"/>
            <a:ext cx="5300000" cy="4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Founders: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Pradeep Shampur, Managing Director, Cephas Consultancy Services Private Limited.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Technical team: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lead and two developers, to be recruited in the first 90 days.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Business team: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Partnerships lead and a community manager, to be recruited in the first 90 days.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Advisors/mentors: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Advisors in governance, legal structuring (Section 8 company, trust or LLP) and CSR, to be invited.</a:t>
            </a:r>
          </a:p>
        </p:txBody>
      </p:sp>
      <p:sp>
        <p:nvSpPr>
          <p:cNvPr id="2069" name="Text 2069"/>
          <p:cNvSpPr txBox="1"/>
          <p:nvPr/>
        </p:nvSpPr>
        <p:spPr>
          <a:xfrm>
            <a:off x="6240000" y="1130000"/>
            <a:ext cx="5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Proposed structure</a:t>
            </a:r>
          </a:p>
        </p:txBody>
      </p:sp>
      <p:sp>
        <p:nvSpPr>
          <p:cNvPr id="2070" name="Flow box 2070"/>
          <p:cNvSpPr/>
          <p:nvPr/>
        </p:nvSpPr>
        <p:spPr>
          <a:xfrm>
            <a:off x="624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Managing Director</a:t>
            </a:r>
          </a:p>
        </p:txBody>
      </p:sp>
      <p:sp>
        <p:nvSpPr>
          <p:cNvPr id="2071" name="Arrow 2071"/>
          <p:cNvSpPr txBox="1"/>
          <p:nvPr/>
        </p:nvSpPr>
        <p:spPr>
          <a:xfrm>
            <a:off x="7840000" y="170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2" name="Flow box 2072"/>
          <p:cNvSpPr/>
          <p:nvPr/>
        </p:nvSpPr>
        <p:spPr>
          <a:xfrm>
            <a:off x="809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lead</a:t>
            </a:r>
          </a:p>
        </p:txBody>
      </p:sp>
      <p:sp>
        <p:nvSpPr>
          <p:cNvPr id="2073" name="Arrow 2073"/>
          <p:cNvSpPr txBox="1"/>
          <p:nvPr/>
        </p:nvSpPr>
        <p:spPr>
          <a:xfrm>
            <a:off x="9690000" y="170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4" name="Flow box 2074"/>
          <p:cNvSpPr/>
          <p:nvPr/>
        </p:nvSpPr>
        <p:spPr>
          <a:xfrm>
            <a:off x="994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Developers</a:t>
            </a:r>
          </a:p>
        </p:txBody>
      </p:sp>
      <p:sp>
        <p:nvSpPr>
          <p:cNvPr id="2075" name="Flow box 2075"/>
          <p:cNvSpPr/>
          <p:nvPr/>
        </p:nvSpPr>
        <p:spPr>
          <a:xfrm>
            <a:off x="624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Managing Director</a:t>
            </a:r>
          </a:p>
        </p:txBody>
      </p:sp>
      <p:sp>
        <p:nvSpPr>
          <p:cNvPr id="2076" name="Arrow 2076"/>
          <p:cNvSpPr txBox="1"/>
          <p:nvPr/>
        </p:nvSpPr>
        <p:spPr>
          <a:xfrm>
            <a:off x="7840000" y="305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7" name="Flow box 2077"/>
          <p:cNvSpPr/>
          <p:nvPr/>
        </p:nvSpPr>
        <p:spPr>
          <a:xfrm>
            <a:off x="809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Partnerships lead</a:t>
            </a:r>
          </a:p>
        </p:txBody>
      </p:sp>
      <p:sp>
        <p:nvSpPr>
          <p:cNvPr id="2078" name="Arrow 2078"/>
          <p:cNvSpPr txBox="1"/>
          <p:nvPr/>
        </p:nvSpPr>
        <p:spPr>
          <a:xfrm>
            <a:off x="9690000" y="305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9" name="Flow box 2079"/>
          <p:cNvSpPr/>
          <p:nvPr/>
        </p:nvSpPr>
        <p:spPr>
          <a:xfrm>
            <a:off x="994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and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Financial Requirements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080" name="Text 2080"/>
          <p:cNvSpPr txBox="1"/>
          <p:nvPr/>
        </p:nvSpPr>
        <p:spPr>
          <a:xfrm>
            <a:off x="658368" y="1130000"/>
            <a:ext cx="10881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Funding requirement: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₹60 lakh over 12 months</a:t>
            </a:r>
          </a:p>
        </p:txBody>
      </p:sp>
      <p:graphicFrame>
        <p:nvGraphicFramePr>
          <p:cNvPr id="2081" name="Table 2081"/>
          <p:cNvGraphicFramePr>
            <a:graphicFrameLocks noGrp="1"/>
          </p:cNvGraphicFramePr>
          <p:nvPr/>
        </p:nvGraphicFramePr>
        <p:xfrm>
          <a:off x="658368" y="1900000"/>
          <a:ext cx="10881360" cy="30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5081360"/>
                <a:gridCol w="2800000"/>
              </a:tblGrid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covers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development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Prototype, smart-contract audit and web app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₹30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 outreach, events and community building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₹12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wrapper, compliance, accounting and support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₹18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₹60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Ask &amp; Next Steps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DOLPHIN TANK INDIA  •  IDEA TO SOCIAL IMPACT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9922294" y="4001406"/>
            <a:ext cx="16705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For Demo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9944802" y="5992192"/>
            <a:ext cx="16705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cephasconsult.github.io/ecosystem-dao-mvp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Text 2082"/>
          <p:cNvSpPr txBox="1"/>
          <p:nvPr/>
        </p:nvSpPr>
        <p:spPr>
          <a:xfrm>
            <a:off x="658368" y="1130000"/>
            <a:ext cx="90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support do we need?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Mentorship: governance design and social-sector adoption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Funding: complete the prototype and seed the pilot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customers: founding members across all three member types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partners: incubators, universities and CSR networks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support: smart-contract audits and cloud credits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partnerships: funders and institutions for national reach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Closing statement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“Ideas Can Create Big Impact When Technology, Purpose, and People Come Together.”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Queries &amp; feedback: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Pradeep Shampur, Managing Director, Cephas Consultancy Services Private Limited · consult@cephasconsult.biz · +91-97421 57392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 access: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login needed. Open the link, choose any member type on the first screen, then explore the Proposals, Impact and Treasury tabs, or tap ▶ Demo for a guided tour.</a:t>
            </a:r>
          </a:p>
        </p:txBody>
      </p:sp>
      <p:pic>
        <p:nvPicPr>
          <p:cNvPr id="2083" name="Picture 2082" descr="qr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257" y="4380680"/>
            <a:ext cx="1582615" cy="1582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CPL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7C000"/>
      </a:accent1>
      <a:accent2>
        <a:srgbClr val="F19B0C"/>
      </a:accent2>
      <a:accent3>
        <a:srgbClr val="E57116"/>
      </a:accent3>
      <a:accent4>
        <a:srgbClr val="253653"/>
      </a:accent4>
      <a:accent5>
        <a:srgbClr val="3CA5D8"/>
      </a:accent5>
      <a:accent6>
        <a:srgbClr val="676767"/>
      </a:accent6>
      <a:hlink>
        <a:srgbClr val="3DA4D8"/>
      </a:hlink>
      <a:folHlink>
        <a:srgbClr val="8686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2026-10-08T09:40:18Z</dcterms:created>
  <dc:creator>Welcome CC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